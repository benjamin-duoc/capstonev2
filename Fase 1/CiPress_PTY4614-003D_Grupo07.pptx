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NTR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i5uslKFtRpx9rJ2McEv6ta77PT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NT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47633" y="2973609"/>
            <a:ext cx="13530446" cy="2605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Cipress</a:t>
            </a:r>
            <a:endParaRPr/>
          </a:p>
          <a:p>
            <a:pPr indent="0" lvl="0" marL="0" marR="0" rtl="0" algn="l">
              <a:lnSpc>
                <a:spcPct val="85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4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47633" y="4934038"/>
            <a:ext cx="10721700" cy="48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3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Equipo: </a:t>
            </a:r>
            <a:endParaRPr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3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Benjamín Morales </a:t>
            </a:r>
            <a:endParaRPr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3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Sergio Martin.</a:t>
            </a:r>
            <a:endParaRPr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3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3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Carrera: Ingeniería en Informática. </a:t>
            </a:r>
            <a:endParaRPr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3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3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Sede: Padre Alonso de Ovalle. 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7819660" y="-1260385"/>
            <a:ext cx="11398915" cy="12807769"/>
          </a:xfrm>
          <a:custGeom>
            <a:rect b="b" l="l" r="r" t="t"/>
            <a:pathLst>
              <a:path extrusionOk="0" h="12807769" w="11398915">
                <a:moveTo>
                  <a:pt x="0" y="0"/>
                </a:moveTo>
                <a:lnTo>
                  <a:pt x="11398915" y="0"/>
                </a:lnTo>
                <a:lnTo>
                  <a:pt x="11398915" y="12807770"/>
                </a:lnTo>
                <a:lnTo>
                  <a:pt x="0" y="128077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-7421929" y="8656690"/>
            <a:ext cx="12726186" cy="8229600"/>
          </a:xfrm>
          <a:custGeom>
            <a:rect b="b" l="l" r="r" t="t"/>
            <a:pathLst>
              <a:path extrusionOk="0" h="8229600" w="12726186">
                <a:moveTo>
                  <a:pt x="0" y="0"/>
                </a:moveTo>
                <a:lnTo>
                  <a:pt x="12726186" y="0"/>
                </a:lnTo>
                <a:lnTo>
                  <a:pt x="1272618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2"/>
          <p:cNvSpPr/>
          <p:nvPr/>
        </p:nvSpPr>
        <p:spPr>
          <a:xfrm>
            <a:off x="4743065" y="-5780095"/>
            <a:ext cx="12726186" cy="8229600"/>
          </a:xfrm>
          <a:custGeom>
            <a:rect b="b" l="l" r="r" t="t"/>
            <a:pathLst>
              <a:path extrusionOk="0" h="8229600" w="12726186">
                <a:moveTo>
                  <a:pt x="0" y="0"/>
                </a:moveTo>
                <a:lnTo>
                  <a:pt x="12726186" y="0"/>
                </a:lnTo>
                <a:lnTo>
                  <a:pt x="1272618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2"/>
          <p:cNvSpPr/>
          <p:nvPr/>
        </p:nvSpPr>
        <p:spPr>
          <a:xfrm>
            <a:off x="-792715" y="935333"/>
            <a:ext cx="2680365" cy="633236"/>
          </a:xfrm>
          <a:custGeom>
            <a:rect b="b" l="l" r="r" t="t"/>
            <a:pathLst>
              <a:path extrusionOk="0" h="633236" w="2680365">
                <a:moveTo>
                  <a:pt x="0" y="0"/>
                </a:moveTo>
                <a:lnTo>
                  <a:pt x="2680365" y="0"/>
                </a:lnTo>
                <a:lnTo>
                  <a:pt x="2680365" y="633236"/>
                </a:lnTo>
                <a:lnTo>
                  <a:pt x="0" y="633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2"/>
          <p:cNvSpPr/>
          <p:nvPr/>
        </p:nvSpPr>
        <p:spPr>
          <a:xfrm>
            <a:off x="11450494" y="59600"/>
            <a:ext cx="8416334" cy="841633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1028700" y="3449667"/>
            <a:ext cx="11036584" cy="818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Una plataforma web B2B/B2C construida desde cero para conectar periodistas independientes con empleadores.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2283556" y="588376"/>
            <a:ext cx="10365236" cy="1193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Descripción y Relevancia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52978" y="2343552"/>
            <a:ext cx="3545800" cy="762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es?: 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52978" y="4801257"/>
            <a:ext cx="486060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Funcionalidad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028700" y="6144192"/>
            <a:ext cx="11036584" cy="818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Unifica publicaciones editoriales, portafolios fotográficos y bolsa de empleo en un ecosistema centralizado.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52978" y="7389865"/>
            <a:ext cx="415194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Problema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028700" y="8618590"/>
            <a:ext cx="11036584" cy="818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extrema fragmentación de herramientas digitales y la crisis de sostenibilidad en el periodismo autónomo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14066181" y="-6574853"/>
            <a:ext cx="9036312" cy="10153159"/>
          </a:xfrm>
          <a:custGeom>
            <a:rect b="b" l="l" r="r" t="t"/>
            <a:pathLst>
              <a:path extrusionOk="0" h="10153159" w="9036312">
                <a:moveTo>
                  <a:pt x="0" y="0"/>
                </a:moveTo>
                <a:lnTo>
                  <a:pt x="9036312" y="0"/>
                </a:lnTo>
                <a:lnTo>
                  <a:pt x="9036312" y="10153159"/>
                </a:lnTo>
                <a:lnTo>
                  <a:pt x="0" y="101531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3"/>
          <p:cNvSpPr/>
          <p:nvPr/>
        </p:nvSpPr>
        <p:spPr>
          <a:xfrm>
            <a:off x="-3489456" y="6779168"/>
            <a:ext cx="9036312" cy="10153159"/>
          </a:xfrm>
          <a:custGeom>
            <a:rect b="b" l="l" r="r" t="t"/>
            <a:pathLst>
              <a:path extrusionOk="0" h="10153159" w="9036312">
                <a:moveTo>
                  <a:pt x="0" y="0"/>
                </a:moveTo>
                <a:lnTo>
                  <a:pt x="9036312" y="0"/>
                </a:lnTo>
                <a:lnTo>
                  <a:pt x="9036312" y="10153159"/>
                </a:lnTo>
                <a:lnTo>
                  <a:pt x="0" y="101531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3"/>
          <p:cNvSpPr txBox="1"/>
          <p:nvPr/>
        </p:nvSpPr>
        <p:spPr>
          <a:xfrm>
            <a:off x="2670093" y="771525"/>
            <a:ext cx="12947814" cy="1319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5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Objetivos del Proyecto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172168" y="3154443"/>
            <a:ext cx="7169470" cy="762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 General: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1631288" y="4325399"/>
            <a:ext cx="11036584" cy="818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Desarrollar una plataforma colaborativa integral con módulos de publicación, mercado laboral y asistencia de IA generativa. 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3552716" y="5505450"/>
            <a:ext cx="8589855" cy="762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Objetivos Específicos: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6222716" y="6677026"/>
            <a:ext cx="11036584" cy="2921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1115" lvl="1" marL="522231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18"/>
              <a:buFont typeface="Arial"/>
              <a:buChar char="•"/>
            </a:pPr>
            <a:r>
              <a:rPr b="0" i="0" lang="en-US" sz="24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Diseñar arquitectura fullstack (React, Flask, SQLite). 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1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115" lvl="1" marL="522231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18"/>
              <a:buFont typeface="Arial"/>
              <a:buChar char="•"/>
            </a:pPr>
            <a:r>
              <a:rPr b="0" i="0" lang="en-US" sz="24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Construir microservicios de IA (API Gemini) para redacción y matchmaking. 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1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115" lvl="1" marL="522231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18"/>
              <a:buFont typeface="Arial"/>
              <a:buChar char="•"/>
            </a:pPr>
            <a:r>
              <a:rPr b="0" i="0" lang="en-US" sz="24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Integrar pasarela de pagos (Flow) y control de roles (RBAC).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1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/>
        </p:nvSpPr>
        <p:spPr>
          <a:xfrm>
            <a:off x="2379036" y="641156"/>
            <a:ext cx="12496920" cy="2145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COMPETENCIAS DEL PERFIL DE EGRESO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13769844" y="323495"/>
            <a:ext cx="9036312" cy="10153159"/>
          </a:xfrm>
          <a:custGeom>
            <a:rect b="b" l="l" r="r" t="t"/>
            <a:pathLst>
              <a:path extrusionOk="0" h="10153159" w="9036312">
                <a:moveTo>
                  <a:pt x="0" y="0"/>
                </a:moveTo>
                <a:lnTo>
                  <a:pt x="9036312" y="0"/>
                </a:lnTo>
                <a:lnTo>
                  <a:pt x="9036312" y="10153159"/>
                </a:lnTo>
                <a:lnTo>
                  <a:pt x="0" y="101531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4"/>
          <p:cNvSpPr/>
          <p:nvPr/>
        </p:nvSpPr>
        <p:spPr>
          <a:xfrm>
            <a:off x="-5430180" y="323495"/>
            <a:ext cx="9036312" cy="10153159"/>
          </a:xfrm>
          <a:custGeom>
            <a:rect b="b" l="l" r="r" t="t"/>
            <a:pathLst>
              <a:path extrusionOk="0" h="10153159" w="9036312">
                <a:moveTo>
                  <a:pt x="0" y="0"/>
                </a:moveTo>
                <a:lnTo>
                  <a:pt x="9036312" y="0"/>
                </a:lnTo>
                <a:lnTo>
                  <a:pt x="9036312" y="10153159"/>
                </a:lnTo>
                <a:lnTo>
                  <a:pt x="0" y="101531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 txBox="1"/>
          <p:nvPr/>
        </p:nvSpPr>
        <p:spPr>
          <a:xfrm>
            <a:off x="-973845" y="3056363"/>
            <a:ext cx="10117845" cy="662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Soluciones de Software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1028700" y="3978771"/>
            <a:ext cx="11036584" cy="818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Construcción de arquitectura con más de 25 modelos de datos relacionales y patrón MVC. 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-391026" y="5018239"/>
            <a:ext cx="10117845" cy="662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Gestión de Proyectos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139571" y="6975531"/>
            <a:ext cx="10117845" cy="662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Calidad y Seguridad: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1862533" y="5938355"/>
            <a:ext cx="11036584" cy="818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Implementación de metodologías ágiles durante todo el ciclo de vida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2969991" y="7895647"/>
            <a:ext cx="11036584" cy="818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Configuración de entornos aislados, protección de datos y gestión de credenciales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/>
        </p:nvSpPr>
        <p:spPr>
          <a:xfrm>
            <a:off x="2274927" y="1325471"/>
            <a:ext cx="1642439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Intereses Profesionales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-3472315" y="6866769"/>
            <a:ext cx="16230600" cy="6370510"/>
          </a:xfrm>
          <a:custGeom>
            <a:rect b="b" l="l" r="r" t="t"/>
            <a:pathLst>
              <a:path extrusionOk="0" h="6370510" w="16230600">
                <a:moveTo>
                  <a:pt x="0" y="0"/>
                </a:moveTo>
                <a:lnTo>
                  <a:pt x="16230600" y="0"/>
                </a:lnTo>
                <a:lnTo>
                  <a:pt x="16230600" y="6370511"/>
                </a:lnTo>
                <a:lnTo>
                  <a:pt x="0" y="6370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5"/>
          <p:cNvSpPr/>
          <p:nvPr/>
        </p:nvSpPr>
        <p:spPr>
          <a:xfrm>
            <a:off x="-877822" y="1452083"/>
            <a:ext cx="2680365" cy="633236"/>
          </a:xfrm>
          <a:custGeom>
            <a:rect b="b" l="l" r="r" t="t"/>
            <a:pathLst>
              <a:path extrusionOk="0" h="633236" w="2680365">
                <a:moveTo>
                  <a:pt x="0" y="0"/>
                </a:moveTo>
                <a:lnTo>
                  <a:pt x="2680364" y="0"/>
                </a:lnTo>
                <a:lnTo>
                  <a:pt x="2680364" y="633236"/>
                </a:lnTo>
                <a:lnTo>
                  <a:pt x="0" y="633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5"/>
          <p:cNvSpPr txBox="1"/>
          <p:nvPr/>
        </p:nvSpPr>
        <p:spPr>
          <a:xfrm>
            <a:off x="2274927" y="2991098"/>
            <a:ext cx="11036584" cy="818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Interés en Desarrollo Frontend e Interfaces. Reflejado en la construcción de componentes interactivos en React.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2145801" y="6438669"/>
            <a:ext cx="11036584" cy="818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La construcción de CiPress desde cero nos prepara para asumir roles de Arquitectura de Software.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2274927" y="4504524"/>
            <a:ext cx="11036584" cy="123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Interés directo en Arquitectura Backend y Machine Learning. Reflejado en el diseño de la API en Flask y la integración de modelos de lenguaje.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/>
        </p:nvSpPr>
        <p:spPr>
          <a:xfrm>
            <a:off x="672727" y="1347472"/>
            <a:ext cx="13335000" cy="1064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Factibilidad y Dificultades </a:t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 rot="3426130">
            <a:off x="9790583" y="382173"/>
            <a:ext cx="11759453" cy="7040973"/>
          </a:xfrm>
          <a:custGeom>
            <a:rect b="b" l="l" r="r" t="t"/>
            <a:pathLst>
              <a:path extrusionOk="0" h="7040973" w="11759453">
                <a:moveTo>
                  <a:pt x="0" y="0"/>
                </a:moveTo>
                <a:lnTo>
                  <a:pt x="11759453" y="0"/>
                </a:lnTo>
                <a:lnTo>
                  <a:pt x="11759453" y="7040973"/>
                </a:lnTo>
                <a:lnTo>
                  <a:pt x="0" y="7040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6"/>
          <p:cNvSpPr txBox="1"/>
          <p:nvPr/>
        </p:nvSpPr>
        <p:spPr>
          <a:xfrm>
            <a:off x="672727" y="3169300"/>
            <a:ext cx="16383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Tiempo y Materiales</a:t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1512046" y="4000832"/>
            <a:ext cx="16383000" cy="44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Plazo de 18 semanas utilizando recursos de libre acceso (Node.js, Python, API Gemini Tier Free).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672727" y="4791075"/>
            <a:ext cx="16383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Dificultades (Factores Externos)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1512046" y="5692472"/>
            <a:ext cx="16383000" cy="44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Límite de cuotas de la API de IA y complejidad de integrar múltiples módulos.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672727" y="6486857"/>
            <a:ext cx="16383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Abordaje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1512046" y="7467932"/>
            <a:ext cx="16383000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Uso de sistemas de caché de respuestas, optimización de prompts y desarrollo incremental priorizado.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15049500" y="-171450"/>
            <a:ext cx="16230600" cy="6372225"/>
          </a:xfrm>
          <a:custGeom>
            <a:rect b="b" l="l" r="r" t="t"/>
            <a:pathLst>
              <a:path extrusionOk="0" h="6372225" w="16230600">
                <a:moveTo>
                  <a:pt x="0" y="0"/>
                </a:moveTo>
                <a:lnTo>
                  <a:pt x="16230600" y="0"/>
                </a:lnTo>
                <a:lnTo>
                  <a:pt x="16230600" y="6372225"/>
                </a:lnTo>
                <a:lnTo>
                  <a:pt x="0" y="63722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23" l="0" r="0" t="-623"/>
            </a:stretch>
          </a:blipFill>
          <a:ln>
            <a:noFill/>
          </a:ln>
        </p:spPr>
      </p:sp>
      <p:sp>
        <p:nvSpPr>
          <p:cNvPr id="153" name="Google Shape;153;p7"/>
          <p:cNvSpPr/>
          <p:nvPr/>
        </p:nvSpPr>
        <p:spPr>
          <a:xfrm flipH="1">
            <a:off x="-13106400" y="-171450"/>
            <a:ext cx="16230600" cy="6372225"/>
          </a:xfrm>
          <a:custGeom>
            <a:rect b="b" l="l" r="r" t="t"/>
            <a:pathLst>
              <a:path extrusionOk="0" h="6372225" w="16230600">
                <a:moveTo>
                  <a:pt x="16230600" y="0"/>
                </a:moveTo>
                <a:lnTo>
                  <a:pt x="0" y="0"/>
                </a:lnTo>
                <a:lnTo>
                  <a:pt x="0" y="6372225"/>
                </a:lnTo>
                <a:lnTo>
                  <a:pt x="16230600" y="6372225"/>
                </a:lnTo>
                <a:lnTo>
                  <a:pt x="1623060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623" l="0" r="0" t="-623"/>
            </a:stretch>
          </a:blipFill>
          <a:ln>
            <a:noFill/>
          </a:ln>
        </p:spPr>
      </p:sp>
      <p:sp>
        <p:nvSpPr>
          <p:cNvPr id="154" name="Google Shape;154;p7"/>
          <p:cNvSpPr txBox="1"/>
          <p:nvPr/>
        </p:nvSpPr>
        <p:spPr>
          <a:xfrm>
            <a:off x="2295525" y="942975"/>
            <a:ext cx="13687425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Metodología de Trabajo</a:t>
            </a:r>
            <a:endParaRPr/>
          </a:p>
        </p:txBody>
      </p:sp>
      <p:grpSp>
        <p:nvGrpSpPr>
          <p:cNvPr id="155" name="Google Shape;155;p7"/>
          <p:cNvGrpSpPr/>
          <p:nvPr/>
        </p:nvGrpSpPr>
        <p:grpSpPr>
          <a:xfrm>
            <a:off x="1352550" y="4400550"/>
            <a:ext cx="4857750" cy="4857750"/>
            <a:chOff x="0" y="-38100"/>
            <a:chExt cx="6477000" cy="6477000"/>
          </a:xfrm>
        </p:grpSpPr>
        <p:sp>
          <p:nvSpPr>
            <p:cNvPr id="156" name="Google Shape;156;p7"/>
            <p:cNvSpPr/>
            <p:nvPr/>
          </p:nvSpPr>
          <p:spPr>
            <a:xfrm>
              <a:off x="0" y="0"/>
              <a:ext cx="6477000" cy="6438900"/>
            </a:xfrm>
            <a:custGeom>
              <a:rect b="b" l="l" r="r" t="t"/>
              <a:pathLst>
                <a:path extrusionOk="0" h="6438900" w="6477000">
                  <a:moveTo>
                    <a:pt x="643890" y="0"/>
                  </a:moveTo>
                  <a:lnTo>
                    <a:pt x="5833110" y="0"/>
                  </a:lnTo>
                  <a:cubicBezTo>
                    <a:pt x="6003880" y="0"/>
                    <a:pt x="6167656" y="67838"/>
                    <a:pt x="6288409" y="188591"/>
                  </a:cubicBezTo>
                  <a:cubicBezTo>
                    <a:pt x="6409162" y="309344"/>
                    <a:pt x="6477000" y="473120"/>
                    <a:pt x="6477000" y="643890"/>
                  </a:cubicBezTo>
                  <a:lnTo>
                    <a:pt x="6477000" y="5795010"/>
                  </a:lnTo>
                  <a:cubicBezTo>
                    <a:pt x="6477000" y="5965780"/>
                    <a:pt x="6409162" y="6129556"/>
                    <a:pt x="6288409" y="6250309"/>
                  </a:cubicBezTo>
                  <a:cubicBezTo>
                    <a:pt x="6167656" y="6371062"/>
                    <a:pt x="6003880" y="6438900"/>
                    <a:pt x="5833110" y="6438900"/>
                  </a:cubicBezTo>
                  <a:lnTo>
                    <a:pt x="643890" y="6438900"/>
                  </a:lnTo>
                  <a:cubicBezTo>
                    <a:pt x="473120" y="6438900"/>
                    <a:pt x="309344" y="6371062"/>
                    <a:pt x="188591" y="6250309"/>
                  </a:cubicBezTo>
                  <a:cubicBezTo>
                    <a:pt x="67838" y="6129556"/>
                    <a:pt x="0" y="5965780"/>
                    <a:pt x="0" y="5795010"/>
                  </a:cubicBezTo>
                  <a:lnTo>
                    <a:pt x="0" y="643890"/>
                  </a:lnTo>
                  <a:cubicBezTo>
                    <a:pt x="0" y="288279"/>
                    <a:pt x="288279" y="0"/>
                    <a:pt x="643890" y="0"/>
                  </a:cubicBezTo>
                  <a:close/>
                </a:path>
              </a:pathLst>
            </a:custGeom>
            <a:solidFill>
              <a:srgbClr val="3D3D3D">
                <a:alpha val="4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7"/>
            <p:cNvSpPr txBox="1"/>
            <p:nvPr/>
          </p:nvSpPr>
          <p:spPr>
            <a:xfrm>
              <a:off x="0" y="-38100"/>
              <a:ext cx="6477000" cy="6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7"/>
          <p:cNvGrpSpPr/>
          <p:nvPr/>
        </p:nvGrpSpPr>
        <p:grpSpPr>
          <a:xfrm>
            <a:off x="1352550" y="4400550"/>
            <a:ext cx="4857750" cy="1085850"/>
            <a:chOff x="0" y="-38100"/>
            <a:chExt cx="6477000" cy="1447800"/>
          </a:xfrm>
        </p:grpSpPr>
        <p:sp>
          <p:nvSpPr>
            <p:cNvPr id="159" name="Google Shape;159;p7"/>
            <p:cNvSpPr/>
            <p:nvPr/>
          </p:nvSpPr>
          <p:spPr>
            <a:xfrm>
              <a:off x="0" y="0"/>
              <a:ext cx="6477000" cy="1409700"/>
            </a:xfrm>
            <a:custGeom>
              <a:rect b="b" l="l" r="r" t="t"/>
              <a:pathLst>
                <a:path extrusionOk="0" h="1409700" w="6477000">
                  <a:moveTo>
                    <a:pt x="140970" y="0"/>
                  </a:moveTo>
                  <a:lnTo>
                    <a:pt x="6336030" y="0"/>
                  </a:lnTo>
                  <a:cubicBezTo>
                    <a:pt x="6373418" y="0"/>
                    <a:pt x="6409274" y="14852"/>
                    <a:pt x="6435711" y="41289"/>
                  </a:cubicBezTo>
                  <a:cubicBezTo>
                    <a:pt x="6462148" y="67726"/>
                    <a:pt x="6477000" y="103582"/>
                    <a:pt x="6477000" y="140970"/>
                  </a:cubicBezTo>
                  <a:lnTo>
                    <a:pt x="6477000" y="1268730"/>
                  </a:lnTo>
                  <a:cubicBezTo>
                    <a:pt x="6477000" y="1306118"/>
                    <a:pt x="6462148" y="1341974"/>
                    <a:pt x="6435711" y="1368411"/>
                  </a:cubicBezTo>
                  <a:cubicBezTo>
                    <a:pt x="6409274" y="1394848"/>
                    <a:pt x="6373418" y="1409700"/>
                    <a:pt x="6336030" y="1409700"/>
                  </a:cubicBezTo>
                  <a:lnTo>
                    <a:pt x="140970" y="1409700"/>
                  </a:lnTo>
                  <a:cubicBezTo>
                    <a:pt x="63114" y="1409700"/>
                    <a:pt x="0" y="1346586"/>
                    <a:pt x="0" y="1268730"/>
                  </a:cubicBezTo>
                  <a:lnTo>
                    <a:pt x="0" y="140970"/>
                  </a:lnTo>
                  <a:cubicBezTo>
                    <a:pt x="0" y="63114"/>
                    <a:pt x="63114" y="0"/>
                    <a:pt x="140970" y="0"/>
                  </a:cubicBezTo>
                  <a:close/>
                </a:path>
              </a:pathLst>
            </a:custGeom>
            <a:solidFill>
              <a:srgbClr val="74CA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7"/>
            <p:cNvSpPr txBox="1"/>
            <p:nvPr/>
          </p:nvSpPr>
          <p:spPr>
            <a:xfrm>
              <a:off x="0" y="-38100"/>
              <a:ext cx="64770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7"/>
          <p:cNvSpPr txBox="1"/>
          <p:nvPr/>
        </p:nvSpPr>
        <p:spPr>
          <a:xfrm>
            <a:off x="1762125" y="4676775"/>
            <a:ext cx="40386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Metodología</a:t>
            </a:r>
            <a:endParaRPr/>
          </a:p>
        </p:txBody>
      </p:sp>
      <p:sp>
        <p:nvSpPr>
          <p:cNvPr id="162" name="Google Shape;162;p7"/>
          <p:cNvSpPr txBox="1"/>
          <p:nvPr/>
        </p:nvSpPr>
        <p:spPr>
          <a:xfrm>
            <a:off x="5229225" y="4791075"/>
            <a:ext cx="4762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1762125" y="5705475"/>
            <a:ext cx="4038600" cy="151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Marco de trabajo ágil Scrum aplicado como estándar disciplinar para el desarrollo iterativo del software.</a:t>
            </a:r>
            <a:endParaRPr/>
          </a:p>
        </p:txBody>
      </p:sp>
      <p:grpSp>
        <p:nvGrpSpPr>
          <p:cNvPr id="164" name="Google Shape;164;p7"/>
          <p:cNvGrpSpPr/>
          <p:nvPr/>
        </p:nvGrpSpPr>
        <p:grpSpPr>
          <a:xfrm>
            <a:off x="6715125" y="4400550"/>
            <a:ext cx="4857750" cy="4857750"/>
            <a:chOff x="0" y="-38100"/>
            <a:chExt cx="6477000" cy="6477000"/>
          </a:xfrm>
        </p:grpSpPr>
        <p:sp>
          <p:nvSpPr>
            <p:cNvPr id="165" name="Google Shape;165;p7"/>
            <p:cNvSpPr/>
            <p:nvPr/>
          </p:nvSpPr>
          <p:spPr>
            <a:xfrm>
              <a:off x="0" y="0"/>
              <a:ext cx="6477000" cy="6438900"/>
            </a:xfrm>
            <a:custGeom>
              <a:rect b="b" l="l" r="r" t="t"/>
              <a:pathLst>
                <a:path extrusionOk="0" h="6438900" w="6477000">
                  <a:moveTo>
                    <a:pt x="643890" y="0"/>
                  </a:moveTo>
                  <a:lnTo>
                    <a:pt x="5833110" y="0"/>
                  </a:lnTo>
                  <a:cubicBezTo>
                    <a:pt x="6003880" y="0"/>
                    <a:pt x="6167656" y="67838"/>
                    <a:pt x="6288409" y="188591"/>
                  </a:cubicBezTo>
                  <a:cubicBezTo>
                    <a:pt x="6409162" y="309344"/>
                    <a:pt x="6477000" y="473120"/>
                    <a:pt x="6477000" y="643890"/>
                  </a:cubicBezTo>
                  <a:lnTo>
                    <a:pt x="6477000" y="5795010"/>
                  </a:lnTo>
                  <a:cubicBezTo>
                    <a:pt x="6477000" y="5965780"/>
                    <a:pt x="6409162" y="6129556"/>
                    <a:pt x="6288409" y="6250309"/>
                  </a:cubicBezTo>
                  <a:cubicBezTo>
                    <a:pt x="6167656" y="6371062"/>
                    <a:pt x="6003880" y="6438900"/>
                    <a:pt x="5833110" y="6438900"/>
                  </a:cubicBezTo>
                  <a:lnTo>
                    <a:pt x="643890" y="6438900"/>
                  </a:lnTo>
                  <a:cubicBezTo>
                    <a:pt x="473120" y="6438900"/>
                    <a:pt x="309344" y="6371062"/>
                    <a:pt x="188591" y="6250309"/>
                  </a:cubicBezTo>
                  <a:cubicBezTo>
                    <a:pt x="67838" y="6129556"/>
                    <a:pt x="0" y="5965780"/>
                    <a:pt x="0" y="5795010"/>
                  </a:cubicBezTo>
                  <a:lnTo>
                    <a:pt x="0" y="643890"/>
                  </a:lnTo>
                  <a:cubicBezTo>
                    <a:pt x="0" y="288279"/>
                    <a:pt x="288279" y="0"/>
                    <a:pt x="643890" y="0"/>
                  </a:cubicBezTo>
                  <a:close/>
                </a:path>
              </a:pathLst>
            </a:custGeom>
            <a:solidFill>
              <a:srgbClr val="3D3D3D">
                <a:alpha val="4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7"/>
            <p:cNvSpPr txBox="1"/>
            <p:nvPr/>
          </p:nvSpPr>
          <p:spPr>
            <a:xfrm>
              <a:off x="0" y="-38100"/>
              <a:ext cx="6477000" cy="6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7"/>
          <p:cNvGrpSpPr/>
          <p:nvPr/>
        </p:nvGrpSpPr>
        <p:grpSpPr>
          <a:xfrm>
            <a:off x="6715125" y="4400550"/>
            <a:ext cx="4857750" cy="1085850"/>
            <a:chOff x="0" y="-38100"/>
            <a:chExt cx="6477000" cy="1447800"/>
          </a:xfrm>
        </p:grpSpPr>
        <p:sp>
          <p:nvSpPr>
            <p:cNvPr id="168" name="Google Shape;168;p7"/>
            <p:cNvSpPr/>
            <p:nvPr/>
          </p:nvSpPr>
          <p:spPr>
            <a:xfrm>
              <a:off x="0" y="0"/>
              <a:ext cx="6477000" cy="1409700"/>
            </a:xfrm>
            <a:custGeom>
              <a:rect b="b" l="l" r="r" t="t"/>
              <a:pathLst>
                <a:path extrusionOk="0" h="1409700" w="6477000">
                  <a:moveTo>
                    <a:pt x="140970" y="0"/>
                  </a:moveTo>
                  <a:lnTo>
                    <a:pt x="6336030" y="0"/>
                  </a:lnTo>
                  <a:cubicBezTo>
                    <a:pt x="6373418" y="0"/>
                    <a:pt x="6409274" y="14852"/>
                    <a:pt x="6435711" y="41289"/>
                  </a:cubicBezTo>
                  <a:cubicBezTo>
                    <a:pt x="6462148" y="67726"/>
                    <a:pt x="6477000" y="103582"/>
                    <a:pt x="6477000" y="140970"/>
                  </a:cubicBezTo>
                  <a:lnTo>
                    <a:pt x="6477000" y="1268730"/>
                  </a:lnTo>
                  <a:cubicBezTo>
                    <a:pt x="6477000" y="1306118"/>
                    <a:pt x="6462148" y="1341974"/>
                    <a:pt x="6435711" y="1368411"/>
                  </a:cubicBezTo>
                  <a:cubicBezTo>
                    <a:pt x="6409274" y="1394848"/>
                    <a:pt x="6373418" y="1409700"/>
                    <a:pt x="6336030" y="1409700"/>
                  </a:cubicBezTo>
                  <a:lnTo>
                    <a:pt x="140970" y="1409700"/>
                  </a:lnTo>
                  <a:cubicBezTo>
                    <a:pt x="63114" y="1409700"/>
                    <a:pt x="0" y="1346586"/>
                    <a:pt x="0" y="1268730"/>
                  </a:cubicBezTo>
                  <a:lnTo>
                    <a:pt x="0" y="140970"/>
                  </a:lnTo>
                  <a:cubicBezTo>
                    <a:pt x="0" y="63114"/>
                    <a:pt x="63114" y="0"/>
                    <a:pt x="140970" y="0"/>
                  </a:cubicBezTo>
                  <a:close/>
                </a:path>
              </a:pathLst>
            </a:custGeom>
            <a:solidFill>
              <a:srgbClr val="74CA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7"/>
            <p:cNvSpPr txBox="1"/>
            <p:nvPr/>
          </p:nvSpPr>
          <p:spPr>
            <a:xfrm>
              <a:off x="0" y="-38100"/>
              <a:ext cx="64770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7"/>
          <p:cNvSpPr txBox="1"/>
          <p:nvPr/>
        </p:nvSpPr>
        <p:spPr>
          <a:xfrm>
            <a:off x="7124700" y="4676775"/>
            <a:ext cx="40386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Roles</a:t>
            </a:r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10591800" y="4791075"/>
            <a:ext cx="4762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👥</a:t>
            </a:r>
            <a:endParaRPr/>
          </a:p>
        </p:txBody>
      </p:sp>
      <p:sp>
        <p:nvSpPr>
          <p:cNvPr id="172" name="Google Shape;172;p7"/>
          <p:cNvSpPr txBox="1"/>
          <p:nvPr/>
        </p:nvSpPr>
        <p:spPr>
          <a:xfrm>
            <a:off x="7124700" y="5705475"/>
            <a:ext cx="4038600" cy="2276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Scrum Master / Developer: Sergio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 Owner / Developer: Benjamín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Colaboración continua entre ambos roles.</a:t>
            </a:r>
            <a:endParaRPr/>
          </a:p>
        </p:txBody>
      </p:sp>
      <p:grpSp>
        <p:nvGrpSpPr>
          <p:cNvPr id="173" name="Google Shape;173;p7"/>
          <p:cNvGrpSpPr/>
          <p:nvPr/>
        </p:nvGrpSpPr>
        <p:grpSpPr>
          <a:xfrm>
            <a:off x="11991975" y="4400550"/>
            <a:ext cx="4857750" cy="4857750"/>
            <a:chOff x="0" y="-38100"/>
            <a:chExt cx="6477000" cy="6477000"/>
          </a:xfrm>
        </p:grpSpPr>
        <p:sp>
          <p:nvSpPr>
            <p:cNvPr id="174" name="Google Shape;174;p7"/>
            <p:cNvSpPr/>
            <p:nvPr/>
          </p:nvSpPr>
          <p:spPr>
            <a:xfrm>
              <a:off x="0" y="0"/>
              <a:ext cx="6477000" cy="6438900"/>
            </a:xfrm>
            <a:custGeom>
              <a:rect b="b" l="l" r="r" t="t"/>
              <a:pathLst>
                <a:path extrusionOk="0" h="6438900" w="6477000">
                  <a:moveTo>
                    <a:pt x="643890" y="0"/>
                  </a:moveTo>
                  <a:lnTo>
                    <a:pt x="5833110" y="0"/>
                  </a:lnTo>
                  <a:cubicBezTo>
                    <a:pt x="6003880" y="0"/>
                    <a:pt x="6167656" y="67838"/>
                    <a:pt x="6288409" y="188591"/>
                  </a:cubicBezTo>
                  <a:cubicBezTo>
                    <a:pt x="6409162" y="309344"/>
                    <a:pt x="6477000" y="473120"/>
                    <a:pt x="6477000" y="643890"/>
                  </a:cubicBezTo>
                  <a:lnTo>
                    <a:pt x="6477000" y="5795010"/>
                  </a:lnTo>
                  <a:cubicBezTo>
                    <a:pt x="6477000" y="5965780"/>
                    <a:pt x="6409162" y="6129556"/>
                    <a:pt x="6288409" y="6250309"/>
                  </a:cubicBezTo>
                  <a:cubicBezTo>
                    <a:pt x="6167656" y="6371062"/>
                    <a:pt x="6003880" y="6438900"/>
                    <a:pt x="5833110" y="6438900"/>
                  </a:cubicBezTo>
                  <a:lnTo>
                    <a:pt x="643890" y="6438900"/>
                  </a:lnTo>
                  <a:cubicBezTo>
                    <a:pt x="473120" y="6438900"/>
                    <a:pt x="309344" y="6371062"/>
                    <a:pt x="188591" y="6250309"/>
                  </a:cubicBezTo>
                  <a:cubicBezTo>
                    <a:pt x="67838" y="6129556"/>
                    <a:pt x="0" y="5965780"/>
                    <a:pt x="0" y="5795010"/>
                  </a:cubicBezTo>
                  <a:lnTo>
                    <a:pt x="0" y="643890"/>
                  </a:lnTo>
                  <a:cubicBezTo>
                    <a:pt x="0" y="288279"/>
                    <a:pt x="288279" y="0"/>
                    <a:pt x="643890" y="0"/>
                  </a:cubicBezTo>
                  <a:close/>
                </a:path>
              </a:pathLst>
            </a:custGeom>
            <a:solidFill>
              <a:srgbClr val="3D3D3D">
                <a:alpha val="4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7"/>
            <p:cNvSpPr txBox="1"/>
            <p:nvPr/>
          </p:nvSpPr>
          <p:spPr>
            <a:xfrm>
              <a:off x="0" y="-38100"/>
              <a:ext cx="6477000" cy="6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7"/>
          <p:cNvGrpSpPr/>
          <p:nvPr/>
        </p:nvGrpSpPr>
        <p:grpSpPr>
          <a:xfrm>
            <a:off x="11991975" y="4400550"/>
            <a:ext cx="4857750" cy="1085850"/>
            <a:chOff x="0" y="-38100"/>
            <a:chExt cx="6477000" cy="1447800"/>
          </a:xfrm>
        </p:grpSpPr>
        <p:sp>
          <p:nvSpPr>
            <p:cNvPr id="177" name="Google Shape;177;p7"/>
            <p:cNvSpPr/>
            <p:nvPr/>
          </p:nvSpPr>
          <p:spPr>
            <a:xfrm>
              <a:off x="0" y="0"/>
              <a:ext cx="6477000" cy="1409700"/>
            </a:xfrm>
            <a:custGeom>
              <a:rect b="b" l="l" r="r" t="t"/>
              <a:pathLst>
                <a:path extrusionOk="0" h="1409700" w="6477000">
                  <a:moveTo>
                    <a:pt x="140970" y="0"/>
                  </a:moveTo>
                  <a:lnTo>
                    <a:pt x="6336030" y="0"/>
                  </a:lnTo>
                  <a:cubicBezTo>
                    <a:pt x="6373418" y="0"/>
                    <a:pt x="6409274" y="14852"/>
                    <a:pt x="6435711" y="41289"/>
                  </a:cubicBezTo>
                  <a:cubicBezTo>
                    <a:pt x="6462148" y="67726"/>
                    <a:pt x="6477000" y="103582"/>
                    <a:pt x="6477000" y="140970"/>
                  </a:cubicBezTo>
                  <a:lnTo>
                    <a:pt x="6477000" y="1268730"/>
                  </a:lnTo>
                  <a:cubicBezTo>
                    <a:pt x="6477000" y="1306118"/>
                    <a:pt x="6462148" y="1341974"/>
                    <a:pt x="6435711" y="1368411"/>
                  </a:cubicBezTo>
                  <a:cubicBezTo>
                    <a:pt x="6409274" y="1394848"/>
                    <a:pt x="6373418" y="1409700"/>
                    <a:pt x="6336030" y="1409700"/>
                  </a:cubicBezTo>
                  <a:lnTo>
                    <a:pt x="140970" y="1409700"/>
                  </a:lnTo>
                  <a:cubicBezTo>
                    <a:pt x="63114" y="1409700"/>
                    <a:pt x="0" y="1346586"/>
                    <a:pt x="0" y="1268730"/>
                  </a:cubicBezTo>
                  <a:lnTo>
                    <a:pt x="0" y="140970"/>
                  </a:lnTo>
                  <a:cubicBezTo>
                    <a:pt x="0" y="63114"/>
                    <a:pt x="63114" y="0"/>
                    <a:pt x="140970" y="0"/>
                  </a:cubicBezTo>
                  <a:close/>
                </a:path>
              </a:pathLst>
            </a:custGeom>
            <a:solidFill>
              <a:srgbClr val="74CA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7"/>
            <p:cNvSpPr txBox="1"/>
            <p:nvPr/>
          </p:nvSpPr>
          <p:spPr>
            <a:xfrm>
              <a:off x="0" y="-38100"/>
              <a:ext cx="64770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7"/>
          <p:cNvSpPr txBox="1"/>
          <p:nvPr/>
        </p:nvSpPr>
        <p:spPr>
          <a:xfrm>
            <a:off x="12401550" y="4676775"/>
            <a:ext cx="40386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Ejecución</a:t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15868650" y="4791075"/>
            <a:ext cx="4762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🔄</a:t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12401550" y="5705475"/>
            <a:ext cx="4038600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Ciclos iterativos con ceremonias de Planning, Review y Retrospective para asegurar el cumplimiento de objetivos.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15048045" y="-169751"/>
            <a:ext cx="16230600" cy="6370510"/>
          </a:xfrm>
          <a:custGeom>
            <a:rect b="b" l="l" r="r" t="t"/>
            <a:pathLst>
              <a:path extrusionOk="0" h="6370510" w="16230600">
                <a:moveTo>
                  <a:pt x="0" y="0"/>
                </a:moveTo>
                <a:lnTo>
                  <a:pt x="16230600" y="0"/>
                </a:lnTo>
                <a:lnTo>
                  <a:pt x="16230600" y="6370511"/>
                </a:lnTo>
                <a:lnTo>
                  <a:pt x="0" y="6370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8"/>
          <p:cNvSpPr/>
          <p:nvPr/>
        </p:nvSpPr>
        <p:spPr>
          <a:xfrm flipH="1">
            <a:off x="-13108798" y="-169751"/>
            <a:ext cx="16230600" cy="6370510"/>
          </a:xfrm>
          <a:custGeom>
            <a:rect b="b" l="l" r="r" t="t"/>
            <a:pathLst>
              <a:path extrusionOk="0" h="6370510" w="16230600">
                <a:moveTo>
                  <a:pt x="16230600" y="0"/>
                </a:moveTo>
                <a:lnTo>
                  <a:pt x="0" y="0"/>
                </a:lnTo>
                <a:lnTo>
                  <a:pt x="0" y="6370511"/>
                </a:lnTo>
                <a:lnTo>
                  <a:pt x="16230600" y="6370511"/>
                </a:lnTo>
                <a:lnTo>
                  <a:pt x="162306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8"/>
          <p:cNvSpPr txBox="1"/>
          <p:nvPr/>
        </p:nvSpPr>
        <p:spPr>
          <a:xfrm>
            <a:off x="2295525" y="752475"/>
            <a:ext cx="13687425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Plan de Trabajo e Hitos</a:t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3286125" y="1952625"/>
            <a:ext cx="11706225" cy="382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Cronograma de desarrollo dividido en 3 fases de ejecución</a:t>
            </a:r>
            <a:endParaRPr/>
          </a:p>
        </p:txBody>
      </p:sp>
      <p:grpSp>
        <p:nvGrpSpPr>
          <p:cNvPr id="190" name="Google Shape;190;p8"/>
          <p:cNvGrpSpPr/>
          <p:nvPr/>
        </p:nvGrpSpPr>
        <p:grpSpPr>
          <a:xfrm>
            <a:off x="1352550" y="2695575"/>
            <a:ext cx="4857750" cy="4029075"/>
            <a:chOff x="0" y="-38100"/>
            <a:chExt cx="6477000" cy="5372100"/>
          </a:xfrm>
        </p:grpSpPr>
        <p:sp>
          <p:nvSpPr>
            <p:cNvPr id="191" name="Google Shape;191;p8"/>
            <p:cNvSpPr/>
            <p:nvPr/>
          </p:nvSpPr>
          <p:spPr>
            <a:xfrm>
              <a:off x="0" y="0"/>
              <a:ext cx="6477000" cy="5334000"/>
            </a:xfrm>
            <a:custGeom>
              <a:rect b="b" l="l" r="r" t="t"/>
              <a:pathLst>
                <a:path extrusionOk="0" h="5334000" w="6477000">
                  <a:moveTo>
                    <a:pt x="533400" y="0"/>
                  </a:moveTo>
                  <a:lnTo>
                    <a:pt x="5943600" y="0"/>
                  </a:lnTo>
                  <a:cubicBezTo>
                    <a:pt x="6238189" y="0"/>
                    <a:pt x="6477000" y="238811"/>
                    <a:pt x="6477000" y="533400"/>
                  </a:cubicBezTo>
                  <a:lnTo>
                    <a:pt x="6477000" y="4800600"/>
                  </a:lnTo>
                  <a:cubicBezTo>
                    <a:pt x="6477000" y="5095189"/>
                    <a:pt x="6238189" y="5334000"/>
                    <a:pt x="59436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3D3D3D">
                <a:alpha val="4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8"/>
            <p:cNvSpPr txBox="1"/>
            <p:nvPr/>
          </p:nvSpPr>
          <p:spPr>
            <a:xfrm>
              <a:off x="0" y="-38100"/>
              <a:ext cx="6477000" cy="537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8"/>
          <p:cNvGrpSpPr/>
          <p:nvPr/>
        </p:nvGrpSpPr>
        <p:grpSpPr>
          <a:xfrm>
            <a:off x="1352550" y="2695575"/>
            <a:ext cx="4857750" cy="981075"/>
            <a:chOff x="0" y="-38100"/>
            <a:chExt cx="6477000" cy="1308100"/>
          </a:xfrm>
        </p:grpSpPr>
        <p:sp>
          <p:nvSpPr>
            <p:cNvPr id="194" name="Google Shape;194;p8"/>
            <p:cNvSpPr/>
            <p:nvPr/>
          </p:nvSpPr>
          <p:spPr>
            <a:xfrm>
              <a:off x="0" y="0"/>
              <a:ext cx="6477000" cy="1270000"/>
            </a:xfrm>
            <a:custGeom>
              <a:rect b="b" l="l" r="r" t="t"/>
              <a:pathLst>
                <a:path extrusionOk="0" h="1270000" w="6477000">
                  <a:moveTo>
                    <a:pt x="127000" y="0"/>
                  </a:moveTo>
                  <a:lnTo>
                    <a:pt x="6350000" y="0"/>
                  </a:lnTo>
                  <a:cubicBezTo>
                    <a:pt x="6420140" y="0"/>
                    <a:pt x="6477000" y="56860"/>
                    <a:pt x="6477000" y="127000"/>
                  </a:cubicBezTo>
                  <a:lnTo>
                    <a:pt x="6477000" y="1143000"/>
                  </a:lnTo>
                  <a:cubicBezTo>
                    <a:pt x="6477000" y="1213140"/>
                    <a:pt x="6420140" y="1270000"/>
                    <a:pt x="6350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74CA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8"/>
            <p:cNvSpPr txBox="1"/>
            <p:nvPr/>
          </p:nvSpPr>
          <p:spPr>
            <a:xfrm>
              <a:off x="0" y="-38100"/>
              <a:ext cx="6477000" cy="1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8"/>
          <p:cNvSpPr txBox="1"/>
          <p:nvPr/>
        </p:nvSpPr>
        <p:spPr>
          <a:xfrm>
            <a:off x="1762125" y="2895600"/>
            <a:ext cx="2857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Fase 1</a:t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1762125" y="3267075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Sem. 1-6</a:t>
            </a:r>
            <a:endParaRPr/>
          </a:p>
        </p:txBody>
      </p:sp>
      <p:sp>
        <p:nvSpPr>
          <p:cNvPr id="198" name="Google Shape;198;p8"/>
          <p:cNvSpPr txBox="1"/>
          <p:nvPr/>
        </p:nvSpPr>
        <p:spPr>
          <a:xfrm>
            <a:off x="5210175" y="3086100"/>
            <a:ext cx="4762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🏗️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1762125" y="3848100"/>
            <a:ext cx="4038600" cy="178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0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Hito: Configuración base del proyecto y pruebas de IA funcionales.</a:t>
            </a:r>
            <a:endParaRPr/>
          </a:p>
        </p:txBody>
      </p:sp>
      <p:grpSp>
        <p:nvGrpSpPr>
          <p:cNvPr id="200" name="Google Shape;200;p8"/>
          <p:cNvGrpSpPr/>
          <p:nvPr/>
        </p:nvGrpSpPr>
        <p:grpSpPr>
          <a:xfrm>
            <a:off x="6524625" y="2695575"/>
            <a:ext cx="4857750" cy="4029075"/>
            <a:chOff x="0" y="-38100"/>
            <a:chExt cx="6477000" cy="5372100"/>
          </a:xfrm>
        </p:grpSpPr>
        <p:sp>
          <p:nvSpPr>
            <p:cNvPr id="201" name="Google Shape;201;p8"/>
            <p:cNvSpPr/>
            <p:nvPr/>
          </p:nvSpPr>
          <p:spPr>
            <a:xfrm>
              <a:off x="0" y="0"/>
              <a:ext cx="6477000" cy="5334000"/>
            </a:xfrm>
            <a:custGeom>
              <a:rect b="b" l="l" r="r" t="t"/>
              <a:pathLst>
                <a:path extrusionOk="0" h="5334000" w="6477000">
                  <a:moveTo>
                    <a:pt x="533400" y="0"/>
                  </a:moveTo>
                  <a:lnTo>
                    <a:pt x="5943600" y="0"/>
                  </a:lnTo>
                  <a:cubicBezTo>
                    <a:pt x="6238189" y="0"/>
                    <a:pt x="6477000" y="238811"/>
                    <a:pt x="6477000" y="533400"/>
                  </a:cubicBezTo>
                  <a:lnTo>
                    <a:pt x="6477000" y="4800600"/>
                  </a:lnTo>
                  <a:cubicBezTo>
                    <a:pt x="6477000" y="5095189"/>
                    <a:pt x="6238189" y="5334000"/>
                    <a:pt x="59436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3D3D3D">
                <a:alpha val="4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 txBox="1"/>
            <p:nvPr/>
          </p:nvSpPr>
          <p:spPr>
            <a:xfrm>
              <a:off x="0" y="-38100"/>
              <a:ext cx="6477000" cy="537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8"/>
          <p:cNvGrpSpPr/>
          <p:nvPr/>
        </p:nvGrpSpPr>
        <p:grpSpPr>
          <a:xfrm>
            <a:off x="6524625" y="2695575"/>
            <a:ext cx="4857750" cy="981075"/>
            <a:chOff x="0" y="-38100"/>
            <a:chExt cx="6477000" cy="1308100"/>
          </a:xfrm>
        </p:grpSpPr>
        <p:sp>
          <p:nvSpPr>
            <p:cNvPr id="204" name="Google Shape;204;p8"/>
            <p:cNvSpPr/>
            <p:nvPr/>
          </p:nvSpPr>
          <p:spPr>
            <a:xfrm>
              <a:off x="0" y="0"/>
              <a:ext cx="6477000" cy="1270000"/>
            </a:xfrm>
            <a:custGeom>
              <a:rect b="b" l="l" r="r" t="t"/>
              <a:pathLst>
                <a:path extrusionOk="0" h="1270000" w="6477000">
                  <a:moveTo>
                    <a:pt x="127000" y="0"/>
                  </a:moveTo>
                  <a:lnTo>
                    <a:pt x="6350000" y="0"/>
                  </a:lnTo>
                  <a:cubicBezTo>
                    <a:pt x="6420140" y="0"/>
                    <a:pt x="6477000" y="56860"/>
                    <a:pt x="6477000" y="127000"/>
                  </a:cubicBezTo>
                  <a:lnTo>
                    <a:pt x="6477000" y="1143000"/>
                  </a:lnTo>
                  <a:cubicBezTo>
                    <a:pt x="6477000" y="1213140"/>
                    <a:pt x="6420140" y="1270000"/>
                    <a:pt x="6350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74CA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 txBox="1"/>
            <p:nvPr/>
          </p:nvSpPr>
          <p:spPr>
            <a:xfrm>
              <a:off x="0" y="-38100"/>
              <a:ext cx="6477000" cy="1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8"/>
          <p:cNvSpPr txBox="1"/>
          <p:nvPr/>
        </p:nvSpPr>
        <p:spPr>
          <a:xfrm>
            <a:off x="6934200" y="2895600"/>
            <a:ext cx="2857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Fase 2</a:t>
            </a:r>
            <a:endParaRPr/>
          </a:p>
        </p:txBody>
      </p:sp>
      <p:sp>
        <p:nvSpPr>
          <p:cNvPr id="207" name="Google Shape;207;p8"/>
          <p:cNvSpPr txBox="1"/>
          <p:nvPr/>
        </p:nvSpPr>
        <p:spPr>
          <a:xfrm>
            <a:off x="6934200" y="3267075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Sem. 7-12</a:t>
            </a:r>
            <a:endParaRPr/>
          </a:p>
        </p:txBody>
      </p:sp>
      <p:sp>
        <p:nvSpPr>
          <p:cNvPr id="208" name="Google Shape;208;p8"/>
          <p:cNvSpPr txBox="1"/>
          <p:nvPr/>
        </p:nvSpPr>
        <p:spPr>
          <a:xfrm>
            <a:off x="10382250" y="3086100"/>
            <a:ext cx="4762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🚀</a:t>
            </a:r>
            <a:endParaRPr/>
          </a:p>
        </p:txBody>
      </p:sp>
      <p:sp>
        <p:nvSpPr>
          <p:cNvPr id="209" name="Google Shape;209;p8"/>
          <p:cNvSpPr txBox="1"/>
          <p:nvPr/>
        </p:nvSpPr>
        <p:spPr>
          <a:xfrm>
            <a:off x="6934200" y="3848100"/>
            <a:ext cx="4038600" cy="178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Sprints 1 y 2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Hito: Plataforma base, marketplace y sistema de pagos operativos.</a:t>
            </a:r>
            <a:endParaRPr/>
          </a:p>
        </p:txBody>
      </p:sp>
      <p:grpSp>
        <p:nvGrpSpPr>
          <p:cNvPr id="210" name="Google Shape;210;p8"/>
          <p:cNvGrpSpPr/>
          <p:nvPr/>
        </p:nvGrpSpPr>
        <p:grpSpPr>
          <a:xfrm>
            <a:off x="11696700" y="2695575"/>
            <a:ext cx="4857750" cy="4029075"/>
            <a:chOff x="0" y="-38100"/>
            <a:chExt cx="6477000" cy="5372100"/>
          </a:xfrm>
        </p:grpSpPr>
        <p:sp>
          <p:nvSpPr>
            <p:cNvPr id="211" name="Google Shape;211;p8"/>
            <p:cNvSpPr/>
            <p:nvPr/>
          </p:nvSpPr>
          <p:spPr>
            <a:xfrm>
              <a:off x="0" y="0"/>
              <a:ext cx="6477000" cy="5334000"/>
            </a:xfrm>
            <a:custGeom>
              <a:rect b="b" l="l" r="r" t="t"/>
              <a:pathLst>
                <a:path extrusionOk="0" h="5334000" w="6477000">
                  <a:moveTo>
                    <a:pt x="533400" y="0"/>
                  </a:moveTo>
                  <a:lnTo>
                    <a:pt x="5943600" y="0"/>
                  </a:lnTo>
                  <a:cubicBezTo>
                    <a:pt x="6238189" y="0"/>
                    <a:pt x="6477000" y="238811"/>
                    <a:pt x="6477000" y="533400"/>
                  </a:cubicBezTo>
                  <a:lnTo>
                    <a:pt x="6477000" y="4800600"/>
                  </a:lnTo>
                  <a:cubicBezTo>
                    <a:pt x="6477000" y="5095189"/>
                    <a:pt x="6238189" y="5334000"/>
                    <a:pt x="59436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3D3D3D">
                <a:alpha val="4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8"/>
            <p:cNvSpPr txBox="1"/>
            <p:nvPr/>
          </p:nvSpPr>
          <p:spPr>
            <a:xfrm>
              <a:off x="0" y="-38100"/>
              <a:ext cx="6477000" cy="537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8"/>
          <p:cNvGrpSpPr/>
          <p:nvPr/>
        </p:nvGrpSpPr>
        <p:grpSpPr>
          <a:xfrm>
            <a:off x="11696700" y="2695575"/>
            <a:ext cx="4857750" cy="981075"/>
            <a:chOff x="0" y="-38100"/>
            <a:chExt cx="6477000" cy="1308100"/>
          </a:xfrm>
        </p:grpSpPr>
        <p:sp>
          <p:nvSpPr>
            <p:cNvPr id="214" name="Google Shape;214;p8"/>
            <p:cNvSpPr/>
            <p:nvPr/>
          </p:nvSpPr>
          <p:spPr>
            <a:xfrm>
              <a:off x="0" y="0"/>
              <a:ext cx="6477000" cy="1270000"/>
            </a:xfrm>
            <a:custGeom>
              <a:rect b="b" l="l" r="r" t="t"/>
              <a:pathLst>
                <a:path extrusionOk="0" h="1270000" w="6477000">
                  <a:moveTo>
                    <a:pt x="127000" y="0"/>
                  </a:moveTo>
                  <a:lnTo>
                    <a:pt x="6350000" y="0"/>
                  </a:lnTo>
                  <a:cubicBezTo>
                    <a:pt x="6420140" y="0"/>
                    <a:pt x="6477000" y="56860"/>
                    <a:pt x="6477000" y="127000"/>
                  </a:cubicBezTo>
                  <a:lnTo>
                    <a:pt x="6477000" y="1143000"/>
                  </a:lnTo>
                  <a:cubicBezTo>
                    <a:pt x="6477000" y="1213140"/>
                    <a:pt x="6420140" y="1270000"/>
                    <a:pt x="6350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74CA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8"/>
            <p:cNvSpPr txBox="1"/>
            <p:nvPr/>
          </p:nvSpPr>
          <p:spPr>
            <a:xfrm>
              <a:off x="0" y="-38100"/>
              <a:ext cx="6477000" cy="1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8"/>
          <p:cNvSpPr txBox="1"/>
          <p:nvPr/>
        </p:nvSpPr>
        <p:spPr>
          <a:xfrm>
            <a:off x="12106275" y="2895600"/>
            <a:ext cx="2857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Fase 3</a:t>
            </a:r>
            <a:endParaRPr/>
          </a:p>
        </p:txBody>
      </p:sp>
      <p:sp>
        <p:nvSpPr>
          <p:cNvPr id="217" name="Google Shape;217;p8"/>
          <p:cNvSpPr txBox="1"/>
          <p:nvPr/>
        </p:nvSpPr>
        <p:spPr>
          <a:xfrm>
            <a:off x="12106275" y="3267075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Sem. 13-18</a:t>
            </a:r>
            <a:endParaRPr/>
          </a:p>
        </p:txBody>
      </p:sp>
      <p:sp>
        <p:nvSpPr>
          <p:cNvPr id="218" name="Google Shape;218;p8"/>
          <p:cNvSpPr txBox="1"/>
          <p:nvPr/>
        </p:nvSpPr>
        <p:spPr>
          <a:xfrm>
            <a:off x="15554325" y="3086100"/>
            <a:ext cx="4762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12106275" y="3848100"/>
            <a:ext cx="4038600" cy="178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3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Hito: Microservicios IA integrados y validación final del sistema.</a:t>
            </a:r>
            <a:endParaRPr/>
          </a:p>
        </p:txBody>
      </p:sp>
      <p:grpSp>
        <p:nvGrpSpPr>
          <p:cNvPr id="220" name="Google Shape;220;p8"/>
          <p:cNvGrpSpPr/>
          <p:nvPr/>
        </p:nvGrpSpPr>
        <p:grpSpPr>
          <a:xfrm>
            <a:off x="1352550" y="6981825"/>
            <a:ext cx="15201900" cy="1076325"/>
            <a:chOff x="0" y="-38100"/>
            <a:chExt cx="20269200" cy="1435100"/>
          </a:xfrm>
        </p:grpSpPr>
        <p:sp>
          <p:nvSpPr>
            <p:cNvPr id="221" name="Google Shape;221;p8"/>
            <p:cNvSpPr/>
            <p:nvPr/>
          </p:nvSpPr>
          <p:spPr>
            <a:xfrm>
              <a:off x="0" y="0"/>
              <a:ext cx="20269200" cy="1397000"/>
            </a:xfrm>
            <a:custGeom>
              <a:rect b="b" l="l" r="r" t="t"/>
              <a:pathLst>
                <a:path extrusionOk="0" h="1397000" w="20269200">
                  <a:moveTo>
                    <a:pt x="139700" y="0"/>
                  </a:moveTo>
                  <a:lnTo>
                    <a:pt x="20129500" y="0"/>
                  </a:lnTo>
                  <a:cubicBezTo>
                    <a:pt x="20206655" y="0"/>
                    <a:pt x="20269200" y="62546"/>
                    <a:pt x="20269200" y="139700"/>
                  </a:cubicBezTo>
                  <a:lnTo>
                    <a:pt x="20269200" y="1257300"/>
                  </a:lnTo>
                  <a:cubicBezTo>
                    <a:pt x="20269200" y="1334454"/>
                    <a:pt x="20206655" y="1397000"/>
                    <a:pt x="20129500" y="1397000"/>
                  </a:cubicBezTo>
                  <a:lnTo>
                    <a:pt x="139700" y="1397000"/>
                  </a:lnTo>
                  <a:cubicBezTo>
                    <a:pt x="62546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2546" y="0"/>
                    <a:pt x="139700" y="0"/>
                  </a:cubicBezTo>
                  <a:close/>
                </a:path>
              </a:pathLst>
            </a:custGeom>
            <a:solidFill>
              <a:srgbClr val="3D3D3D">
                <a:alpha val="4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8"/>
            <p:cNvSpPr txBox="1"/>
            <p:nvPr/>
          </p:nvSpPr>
          <p:spPr>
            <a:xfrm>
              <a:off x="0" y="-38100"/>
              <a:ext cx="20269200" cy="14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8"/>
          <p:cNvGrpSpPr/>
          <p:nvPr/>
        </p:nvGrpSpPr>
        <p:grpSpPr>
          <a:xfrm>
            <a:off x="1352550" y="6981825"/>
            <a:ext cx="15201900" cy="85725"/>
            <a:chOff x="0" y="-38100"/>
            <a:chExt cx="20269200" cy="114300"/>
          </a:xfrm>
        </p:grpSpPr>
        <p:sp>
          <p:nvSpPr>
            <p:cNvPr id="224" name="Google Shape;224;p8"/>
            <p:cNvSpPr/>
            <p:nvPr/>
          </p:nvSpPr>
          <p:spPr>
            <a:xfrm>
              <a:off x="0" y="0"/>
              <a:ext cx="20269200" cy="76200"/>
            </a:xfrm>
            <a:custGeom>
              <a:rect b="b" l="l" r="r" t="t"/>
              <a:pathLst>
                <a:path extrusionOk="0" h="76200" w="20269200">
                  <a:moveTo>
                    <a:pt x="0" y="0"/>
                  </a:moveTo>
                  <a:lnTo>
                    <a:pt x="20269200" y="0"/>
                  </a:lnTo>
                  <a:lnTo>
                    <a:pt x="20269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4CACE"/>
            </a:solidFill>
            <a:ln>
              <a:noFill/>
            </a:ln>
          </p:spPr>
        </p:sp>
        <p:sp>
          <p:nvSpPr>
            <p:cNvPr id="225" name="Google Shape;225;p8"/>
            <p:cNvSpPr txBox="1"/>
            <p:nvPr/>
          </p:nvSpPr>
          <p:spPr>
            <a:xfrm>
              <a:off x="0" y="-38100"/>
              <a:ext cx="202692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8"/>
          <p:cNvSpPr txBox="1"/>
          <p:nvPr/>
        </p:nvSpPr>
        <p:spPr>
          <a:xfrm>
            <a:off x="1638300" y="7153275"/>
            <a:ext cx="5715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74CACE"/>
                </a:solidFill>
                <a:latin typeface="NTR"/>
                <a:ea typeface="NTR"/>
                <a:cs typeface="NTR"/>
                <a:sym typeface="NTR"/>
              </a:rPr>
              <a:t>📌  Facilitadores / Obstáculos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1638300" y="7448550"/>
            <a:ext cx="1463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Facilitado por extensa documentación disponible; obstaculizado por la curva de aprendizaje en nuevas tecnologías (resuelto durante Sprint 0).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/>
          <p:nvPr/>
        </p:nvSpPr>
        <p:spPr>
          <a:xfrm>
            <a:off x="1333500" y="800100"/>
            <a:ext cx="9525000" cy="75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Evidencias y Justificación</a:t>
            </a:r>
            <a:endParaRPr/>
          </a:p>
        </p:txBody>
      </p:sp>
      <p:cxnSp>
        <p:nvCxnSpPr>
          <p:cNvPr id="233" name="Google Shape;233;p9"/>
          <p:cNvCxnSpPr/>
          <p:nvPr/>
        </p:nvCxnSpPr>
        <p:spPr>
          <a:xfrm>
            <a:off x="1333500" y="1704975"/>
            <a:ext cx="2857500" cy="0"/>
          </a:xfrm>
          <a:prstGeom prst="straightConnector1">
            <a:avLst/>
          </a:prstGeom>
          <a:noFill/>
          <a:ln cap="flat" cmpd="sng" w="28575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9"/>
          <p:cNvSpPr txBox="1"/>
          <p:nvPr/>
        </p:nvSpPr>
        <p:spPr>
          <a:xfrm>
            <a:off x="1333500" y="2409825"/>
            <a:ext cx="1524000" cy="973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E8A838"/>
                </a:solidFill>
                <a:latin typeface="NTR"/>
                <a:ea typeface="NTR"/>
                <a:cs typeface="NTR"/>
                <a:sym typeface="NTR"/>
              </a:rPr>
              <a:t>01</a:t>
            </a:r>
            <a:endParaRPr/>
          </a:p>
        </p:txBody>
      </p:sp>
      <p:cxnSp>
        <p:nvCxnSpPr>
          <p:cNvPr id="235" name="Google Shape;235;p9"/>
          <p:cNvCxnSpPr/>
          <p:nvPr/>
        </p:nvCxnSpPr>
        <p:spPr>
          <a:xfrm>
            <a:off x="2857500" y="2238375"/>
            <a:ext cx="0" cy="1476375"/>
          </a:xfrm>
          <a:prstGeom prst="straightConnector1">
            <a:avLst/>
          </a:prstGeom>
          <a:noFill/>
          <a:ln cap="flat" cmpd="sng" w="9525">
            <a:solidFill>
              <a:srgbClr val="666666">
                <a:alpha val="4980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9"/>
          <p:cNvSpPr txBox="1"/>
          <p:nvPr/>
        </p:nvSpPr>
        <p:spPr>
          <a:xfrm>
            <a:off x="3238500" y="2257425"/>
            <a:ext cx="123825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Backlog y Arquitectura</a:t>
            </a:r>
            <a:endParaRPr/>
          </a:p>
        </p:txBody>
      </p:sp>
      <p:sp>
        <p:nvSpPr>
          <p:cNvPr id="237" name="Google Shape;237;p9"/>
          <p:cNvSpPr txBox="1"/>
          <p:nvPr/>
        </p:nvSpPr>
        <p:spPr>
          <a:xfrm>
            <a:off x="3238500" y="2771775"/>
            <a:ext cx="12382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Justifica el correcto levantamiento de requisitos y el diseño lógico del sistema.</a:t>
            </a:r>
            <a:endParaRPr/>
          </a:p>
        </p:txBody>
      </p:sp>
      <p:cxnSp>
        <p:nvCxnSpPr>
          <p:cNvPr id="238" name="Google Shape;238;p9"/>
          <p:cNvCxnSpPr/>
          <p:nvPr/>
        </p:nvCxnSpPr>
        <p:spPr>
          <a:xfrm>
            <a:off x="1333500" y="4191000"/>
            <a:ext cx="15621000" cy="0"/>
          </a:xfrm>
          <a:prstGeom prst="straightConnector1">
            <a:avLst/>
          </a:prstGeom>
          <a:noFill/>
          <a:ln cap="flat" cmpd="sng" w="9525">
            <a:solidFill>
              <a:srgbClr val="666666">
                <a:alpha val="1960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9"/>
          <p:cNvSpPr txBox="1"/>
          <p:nvPr/>
        </p:nvSpPr>
        <p:spPr>
          <a:xfrm>
            <a:off x="1333500" y="4600575"/>
            <a:ext cx="1524000" cy="973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E8A838"/>
                </a:solidFill>
                <a:latin typeface="NTR"/>
                <a:ea typeface="NTR"/>
                <a:cs typeface="NTR"/>
                <a:sym typeface="NTR"/>
              </a:rPr>
              <a:t>02</a:t>
            </a:r>
            <a:endParaRPr/>
          </a:p>
        </p:txBody>
      </p:sp>
      <p:cxnSp>
        <p:nvCxnSpPr>
          <p:cNvPr id="240" name="Google Shape;240;p9"/>
          <p:cNvCxnSpPr/>
          <p:nvPr/>
        </p:nvCxnSpPr>
        <p:spPr>
          <a:xfrm>
            <a:off x="2857500" y="4429125"/>
            <a:ext cx="0" cy="1476375"/>
          </a:xfrm>
          <a:prstGeom prst="straightConnector1">
            <a:avLst/>
          </a:prstGeom>
          <a:noFill/>
          <a:ln cap="flat" cmpd="sng" w="9525">
            <a:solidFill>
              <a:srgbClr val="666666">
                <a:alpha val="4980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9"/>
          <p:cNvSpPr txBox="1"/>
          <p:nvPr/>
        </p:nvSpPr>
        <p:spPr>
          <a:xfrm>
            <a:off x="3238500" y="4448175"/>
            <a:ext cx="123825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Código en Repositorio Git</a:t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3238500" y="4962525"/>
            <a:ext cx="12382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Evidencia tangible de la construcción incremental del software por Sprints.</a:t>
            </a:r>
            <a:endParaRPr/>
          </a:p>
        </p:txBody>
      </p:sp>
      <p:cxnSp>
        <p:nvCxnSpPr>
          <p:cNvPr id="243" name="Google Shape;243;p9"/>
          <p:cNvCxnSpPr/>
          <p:nvPr/>
        </p:nvCxnSpPr>
        <p:spPr>
          <a:xfrm>
            <a:off x="1333500" y="6381750"/>
            <a:ext cx="15621000" cy="0"/>
          </a:xfrm>
          <a:prstGeom prst="straightConnector1">
            <a:avLst/>
          </a:prstGeom>
          <a:noFill/>
          <a:ln cap="flat" cmpd="sng" w="9525">
            <a:solidFill>
              <a:srgbClr val="666666">
                <a:alpha val="1960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9"/>
          <p:cNvSpPr txBox="1"/>
          <p:nvPr/>
        </p:nvSpPr>
        <p:spPr>
          <a:xfrm>
            <a:off x="1333500" y="6791325"/>
            <a:ext cx="1524000" cy="973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E8A838"/>
                </a:solidFill>
                <a:latin typeface="NTR"/>
                <a:ea typeface="NTR"/>
                <a:cs typeface="NTR"/>
                <a:sym typeface="NTR"/>
              </a:rPr>
              <a:t>03</a:t>
            </a:r>
            <a:endParaRPr/>
          </a:p>
        </p:txBody>
      </p:sp>
      <p:cxnSp>
        <p:nvCxnSpPr>
          <p:cNvPr id="245" name="Google Shape;245;p9"/>
          <p:cNvCxnSpPr/>
          <p:nvPr/>
        </p:nvCxnSpPr>
        <p:spPr>
          <a:xfrm>
            <a:off x="2857500" y="6619875"/>
            <a:ext cx="0" cy="1476375"/>
          </a:xfrm>
          <a:prstGeom prst="straightConnector1">
            <a:avLst/>
          </a:prstGeom>
          <a:noFill/>
          <a:ln cap="flat" cmpd="sng" w="9525">
            <a:solidFill>
              <a:srgbClr val="666666">
                <a:alpha val="4980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9"/>
          <p:cNvSpPr txBox="1"/>
          <p:nvPr/>
        </p:nvSpPr>
        <p:spPr>
          <a:xfrm>
            <a:off x="3238500" y="6638925"/>
            <a:ext cx="123825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Documento de Pruebas (V&amp;V)</a:t>
            </a:r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3238500" y="7153275"/>
            <a:ext cx="1238250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Justifica la certificación de calidad y el correcto funcionamiento de los servicios integrados.</a:t>
            </a:r>
            <a:endParaRPr/>
          </a:p>
        </p:txBody>
      </p:sp>
      <p:grpSp>
        <p:nvGrpSpPr>
          <p:cNvPr id="248" name="Google Shape;248;p9"/>
          <p:cNvGrpSpPr/>
          <p:nvPr/>
        </p:nvGrpSpPr>
        <p:grpSpPr>
          <a:xfrm>
            <a:off x="14287500" y="8543925"/>
            <a:ext cx="114300" cy="142875"/>
            <a:chOff x="0" y="-38100"/>
            <a:chExt cx="152400" cy="190500"/>
          </a:xfrm>
        </p:grpSpPr>
        <p:sp>
          <p:nvSpPr>
            <p:cNvPr id="249" name="Google Shape;249;p9"/>
            <p:cNvSpPr/>
            <p:nvPr/>
          </p:nvSpPr>
          <p:spPr>
            <a:xfrm>
              <a:off x="0" y="0"/>
              <a:ext cx="152400" cy="152400"/>
            </a:xfrm>
            <a:custGeom>
              <a:rect b="b" l="l" r="r" t="t"/>
              <a:pathLst>
                <a:path extrusionOk="0" h="152400" w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E8A838">
                <a:alpha val="2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9"/>
            <p:cNvSpPr txBox="1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9"/>
          <p:cNvGrpSpPr/>
          <p:nvPr/>
        </p:nvGrpSpPr>
        <p:grpSpPr>
          <a:xfrm>
            <a:off x="14859000" y="8543925"/>
            <a:ext cx="114300" cy="142875"/>
            <a:chOff x="0" y="-38100"/>
            <a:chExt cx="152400" cy="190500"/>
          </a:xfrm>
        </p:grpSpPr>
        <p:sp>
          <p:nvSpPr>
            <p:cNvPr id="252" name="Google Shape;252;p9"/>
            <p:cNvSpPr/>
            <p:nvPr/>
          </p:nvSpPr>
          <p:spPr>
            <a:xfrm>
              <a:off x="0" y="0"/>
              <a:ext cx="152400" cy="152400"/>
            </a:xfrm>
            <a:custGeom>
              <a:rect b="b" l="l" r="r" t="t"/>
              <a:pathLst>
                <a:path extrusionOk="0" h="152400" w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E8A838">
                <a:alpha val="4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9"/>
            <p:cNvSpPr txBox="1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9"/>
          <p:cNvGrpSpPr/>
          <p:nvPr/>
        </p:nvGrpSpPr>
        <p:grpSpPr>
          <a:xfrm>
            <a:off x="15430500" y="8543925"/>
            <a:ext cx="114300" cy="142875"/>
            <a:chOff x="0" y="-38100"/>
            <a:chExt cx="152400" cy="190500"/>
          </a:xfrm>
        </p:grpSpPr>
        <p:sp>
          <p:nvSpPr>
            <p:cNvPr id="255" name="Google Shape;255;p9"/>
            <p:cNvSpPr/>
            <p:nvPr/>
          </p:nvSpPr>
          <p:spPr>
            <a:xfrm>
              <a:off x="0" y="0"/>
              <a:ext cx="152400" cy="152400"/>
            </a:xfrm>
            <a:custGeom>
              <a:rect b="b" l="l" r="r" t="t"/>
              <a:pathLst>
                <a:path extrusionOk="0" h="152400" w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E8A838">
                <a:alpha val="6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9"/>
            <p:cNvSpPr txBox="1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57" name="Google Shape;257;p9"/>
          <p:cNvCxnSpPr/>
          <p:nvPr/>
        </p:nvCxnSpPr>
        <p:spPr>
          <a:xfrm>
            <a:off x="1333500" y="904875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E8A83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0"/>
          <p:cNvGrpSpPr/>
          <p:nvPr/>
        </p:nvGrpSpPr>
        <p:grpSpPr>
          <a:xfrm>
            <a:off x="0" y="-28575"/>
            <a:ext cx="18288000" cy="85725"/>
            <a:chOff x="0" y="-38100"/>
            <a:chExt cx="24384000" cy="114300"/>
          </a:xfrm>
        </p:grpSpPr>
        <p:sp>
          <p:nvSpPr>
            <p:cNvPr id="263" name="Google Shape;263;p10"/>
            <p:cNvSpPr/>
            <p:nvPr/>
          </p:nvSpPr>
          <p:spPr>
            <a:xfrm>
              <a:off x="0" y="0"/>
              <a:ext cx="24384000" cy="76200"/>
            </a:xfrm>
            <a:custGeom>
              <a:rect b="b" l="l" r="r" t="t"/>
              <a:pathLst>
                <a:path extrusionOk="0"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gradFill>
              <a:gsLst>
                <a:gs pos="0">
                  <a:srgbClr val="74CACE"/>
                </a:gs>
                <a:gs pos="100000">
                  <a:srgbClr val="E8A838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64" name="Google Shape;264;p10"/>
            <p:cNvSpPr txBox="1"/>
            <p:nvPr/>
          </p:nvSpPr>
          <p:spPr>
            <a:xfrm>
              <a:off x="0" y="-38100"/>
              <a:ext cx="243840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10"/>
          <p:cNvSpPr txBox="1"/>
          <p:nvPr/>
        </p:nvSpPr>
        <p:spPr>
          <a:xfrm>
            <a:off x="2476500" y="1362075"/>
            <a:ext cx="13335000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Conclusión</a:t>
            </a:r>
            <a:endParaRPr/>
          </a:p>
        </p:txBody>
      </p:sp>
      <p:cxnSp>
        <p:nvCxnSpPr>
          <p:cNvPr id="266" name="Google Shape;266;p10"/>
          <p:cNvCxnSpPr/>
          <p:nvPr/>
        </p:nvCxnSpPr>
        <p:spPr>
          <a:xfrm>
            <a:off x="8191500" y="2476500"/>
            <a:ext cx="1905000" cy="0"/>
          </a:xfrm>
          <a:prstGeom prst="straightConnector1">
            <a:avLst/>
          </a:prstGeom>
          <a:noFill/>
          <a:ln cap="flat" cmpd="sng" w="19050">
            <a:solidFill>
              <a:srgbClr val="74CA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10"/>
          <p:cNvSpPr txBox="1"/>
          <p:nvPr/>
        </p:nvSpPr>
        <p:spPr>
          <a:xfrm>
            <a:off x="3429000" y="3124200"/>
            <a:ext cx="11430000" cy="14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Ci</a:t>
            </a:r>
            <a:r>
              <a:rPr lang="en-US" sz="2199">
                <a:solidFill>
                  <a:srgbClr val="CCCCCC"/>
                </a:solidFill>
              </a:rPr>
              <a:t>P</a:t>
            </a:r>
            <a:r>
              <a:rPr b="0" i="0" lang="en-US" sz="2199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ress representa una solución integral que combina inteligencia artificial con una arquitectura de microservicios moderna, diseñada para escalar y adaptarse a las necesidades reales del mercado.</a:t>
            </a:r>
            <a:endParaRPr/>
          </a:p>
        </p:txBody>
      </p:sp>
      <p:sp>
        <p:nvSpPr>
          <p:cNvPr id="268" name="Google Shape;268;p10"/>
          <p:cNvSpPr txBox="1"/>
          <p:nvPr/>
        </p:nvSpPr>
        <p:spPr>
          <a:xfrm>
            <a:off x="4857750" y="5286375"/>
            <a:ext cx="571500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74CACE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/>
          </a:p>
        </p:txBody>
      </p:sp>
      <p:sp>
        <p:nvSpPr>
          <p:cNvPr id="269" name="Google Shape;269;p10"/>
          <p:cNvSpPr txBox="1"/>
          <p:nvPr/>
        </p:nvSpPr>
        <p:spPr>
          <a:xfrm>
            <a:off x="3524250" y="5791200"/>
            <a:ext cx="3238500" cy="1061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Metodología ágil</a:t>
            </a:r>
            <a:endParaRPr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garantiza</a:t>
            </a:r>
            <a:endParaRPr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entregas iterativas</a:t>
            </a:r>
            <a:endParaRPr/>
          </a:p>
        </p:txBody>
      </p:sp>
      <p:sp>
        <p:nvSpPr>
          <p:cNvPr id="270" name="Google Shape;270;p10"/>
          <p:cNvSpPr txBox="1"/>
          <p:nvPr/>
        </p:nvSpPr>
        <p:spPr>
          <a:xfrm>
            <a:off x="8858250" y="5286375"/>
            <a:ext cx="571500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E8A838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/>
          </a:p>
        </p:txBody>
      </p:sp>
      <p:sp>
        <p:nvSpPr>
          <p:cNvPr id="271" name="Google Shape;271;p10"/>
          <p:cNvSpPr txBox="1"/>
          <p:nvPr/>
        </p:nvSpPr>
        <p:spPr>
          <a:xfrm>
            <a:off x="7524750" y="5791200"/>
            <a:ext cx="3238500" cy="1061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Tecnologías de</a:t>
            </a:r>
            <a:endParaRPr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libre acceso para</a:t>
            </a:r>
            <a:endParaRPr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máxima viabilidad</a:t>
            </a:r>
            <a:endParaRPr/>
          </a:p>
        </p:txBody>
      </p:sp>
      <p:sp>
        <p:nvSpPr>
          <p:cNvPr id="272" name="Google Shape;272;p10"/>
          <p:cNvSpPr txBox="1"/>
          <p:nvPr/>
        </p:nvSpPr>
        <p:spPr>
          <a:xfrm>
            <a:off x="12858750" y="5286375"/>
            <a:ext cx="571500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74CACE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/>
          </a:p>
        </p:txBody>
      </p:sp>
      <p:sp>
        <p:nvSpPr>
          <p:cNvPr id="273" name="Google Shape;273;p10"/>
          <p:cNvSpPr txBox="1"/>
          <p:nvPr/>
        </p:nvSpPr>
        <p:spPr>
          <a:xfrm>
            <a:off x="11525250" y="5791200"/>
            <a:ext cx="3238500" cy="1061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 integrada como</a:t>
            </a:r>
            <a:endParaRPr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diferenciador</a:t>
            </a:r>
            <a:endParaRPr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competitivo</a:t>
            </a:r>
            <a:endParaRPr/>
          </a:p>
        </p:txBody>
      </p:sp>
      <p:sp>
        <p:nvSpPr>
          <p:cNvPr id="274" name="Google Shape;274;p10"/>
          <p:cNvSpPr txBox="1"/>
          <p:nvPr/>
        </p:nvSpPr>
        <p:spPr>
          <a:xfrm>
            <a:off x="5334000" y="7810500"/>
            <a:ext cx="7620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Gracias por su atención</a:t>
            </a:r>
            <a:endParaRPr/>
          </a:p>
        </p:txBody>
      </p:sp>
      <p:grpSp>
        <p:nvGrpSpPr>
          <p:cNvPr id="275" name="Google Shape;275;p10"/>
          <p:cNvGrpSpPr/>
          <p:nvPr/>
        </p:nvGrpSpPr>
        <p:grpSpPr>
          <a:xfrm>
            <a:off x="8763000" y="8734425"/>
            <a:ext cx="95250" cy="123825"/>
            <a:chOff x="0" y="-38100"/>
            <a:chExt cx="127000" cy="165100"/>
          </a:xfrm>
        </p:grpSpPr>
        <p:sp>
          <p:nvSpPr>
            <p:cNvPr id="276" name="Google Shape;276;p10"/>
            <p:cNvSpPr/>
            <p:nvPr/>
          </p:nvSpPr>
          <p:spPr>
            <a:xfrm>
              <a:off x="0" y="0"/>
              <a:ext cx="127000" cy="127000"/>
            </a:xfrm>
            <a:custGeom>
              <a:rect b="b" l="l" r="r" t="t"/>
              <a:pathLst>
                <a:path extrusionOk="0"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74CACE">
                <a:alpha val="2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0"/>
            <p:cNvSpPr txBox="1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8" name="Google Shape;278;p10"/>
          <p:cNvGrpSpPr/>
          <p:nvPr/>
        </p:nvGrpSpPr>
        <p:grpSpPr>
          <a:xfrm>
            <a:off x="9144000" y="8734425"/>
            <a:ext cx="95250" cy="123825"/>
            <a:chOff x="0" y="-38100"/>
            <a:chExt cx="127000" cy="165100"/>
          </a:xfrm>
        </p:grpSpPr>
        <p:sp>
          <p:nvSpPr>
            <p:cNvPr id="279" name="Google Shape;279;p10"/>
            <p:cNvSpPr/>
            <p:nvPr/>
          </p:nvSpPr>
          <p:spPr>
            <a:xfrm>
              <a:off x="0" y="0"/>
              <a:ext cx="127000" cy="127000"/>
            </a:xfrm>
            <a:custGeom>
              <a:rect b="b" l="l" r="r" t="t"/>
              <a:pathLst>
                <a:path extrusionOk="0"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74CACE">
                <a:alpha val="4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0"/>
            <p:cNvSpPr txBox="1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10"/>
          <p:cNvGrpSpPr/>
          <p:nvPr/>
        </p:nvGrpSpPr>
        <p:grpSpPr>
          <a:xfrm>
            <a:off x="9525000" y="8734425"/>
            <a:ext cx="95250" cy="123825"/>
            <a:chOff x="0" y="-38100"/>
            <a:chExt cx="127000" cy="165100"/>
          </a:xfrm>
        </p:grpSpPr>
        <p:sp>
          <p:nvSpPr>
            <p:cNvPr id="282" name="Google Shape;282;p10"/>
            <p:cNvSpPr/>
            <p:nvPr/>
          </p:nvSpPr>
          <p:spPr>
            <a:xfrm>
              <a:off x="0" y="0"/>
              <a:ext cx="127000" cy="127000"/>
            </a:xfrm>
            <a:custGeom>
              <a:rect b="b" l="l" r="r" t="t"/>
              <a:pathLst>
                <a:path extrusionOk="0"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74CACE">
                <a:alpha val="6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0"/>
            <p:cNvSpPr txBox="1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10"/>
          <p:cNvGrpSpPr/>
          <p:nvPr/>
        </p:nvGrpSpPr>
        <p:grpSpPr>
          <a:xfrm>
            <a:off x="0" y="10201275"/>
            <a:ext cx="18288000" cy="85725"/>
            <a:chOff x="0" y="-38100"/>
            <a:chExt cx="24384000" cy="114300"/>
          </a:xfrm>
        </p:grpSpPr>
        <p:sp>
          <p:nvSpPr>
            <p:cNvPr id="285" name="Google Shape;285;p10"/>
            <p:cNvSpPr/>
            <p:nvPr/>
          </p:nvSpPr>
          <p:spPr>
            <a:xfrm>
              <a:off x="0" y="0"/>
              <a:ext cx="24384000" cy="76200"/>
            </a:xfrm>
            <a:custGeom>
              <a:rect b="b" l="l" r="r" t="t"/>
              <a:pathLst>
                <a:path extrusionOk="0"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gradFill>
              <a:gsLst>
                <a:gs pos="0">
                  <a:srgbClr val="E8A838"/>
                </a:gs>
                <a:gs pos="100000">
                  <a:srgbClr val="74CACE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86" name="Google Shape;286;p10"/>
            <p:cNvSpPr txBox="1"/>
            <p:nvPr/>
          </p:nvSpPr>
          <p:spPr>
            <a:xfrm>
              <a:off x="0" y="-38100"/>
              <a:ext cx="243840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